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Utilization Strategies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Institutional Consortium Networks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Systematic Review — Week 7 Progress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Eneh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Networked Systems Laboratory (NSL)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Kumoh National Institute of Technology (KIT)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14,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Recap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475488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64008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064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10642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of blockchain strategies (architecture, governance, consensus, privacy)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8046720" cy="475488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45920"/>
            <a:ext cx="64008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007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7007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trade-offs: performance, resilience, privacy, complexity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8046720" cy="475488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240280"/>
            <a:ext cx="64008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2951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29514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patterns in institutional settings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8046720" cy="475488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834640"/>
            <a:ext cx="64008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895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288950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gaps and reference implementation requirements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3840480" cy="82296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6118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+ PRISMA-S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566160"/>
            <a:ext cx="3840480" cy="82296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36118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Inter-bank, inter-agency, B2B enterprise consortia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Timeline (Weeks 1–7)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1303020" y="1065276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+ PICOC 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97580" y="1065276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protocol + search strings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92140" y="1065276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execution + deduplication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40980" y="973836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2376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Title/abstract screening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651760"/>
            <a:ext cx="8046720" cy="16459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Work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1089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database searches across 4 sources (IEEE, WoS, arXiv API, OpenAlex API)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exports and deduplicated records (1,707 → 1,638 unique)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Title/abstract screening using inclusion/exclusion criteria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560320" cy="11887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1,707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Identified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2560320" cy="11887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2560320" cy="118872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1,638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21792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Records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Xplore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of Science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(15 sub-queries)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OpenAlex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(replaces ACM+Scopus)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3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Dedup: DOI match (40) + title+year match (29) = 69 removed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Title/Abstract Screening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25603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(34.9%)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05840"/>
            <a:ext cx="25603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43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(47.3%)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05840"/>
            <a:ext cx="25603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43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1792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(17.8%)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3931920" cy="20116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Criteria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0632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technology term present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/ consortium setting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details (consensus, governance, privacy, interop)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implementation or evaluation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697480"/>
            <a:ext cx="3840480" cy="20116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Exclusion Reasons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0632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relevance signals (607)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abstract + irrelevant title (127)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blockchain technology term (31)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commentary (5)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Crypto-market / single-org (5)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PRISMA Flow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0" y="685800"/>
            <a:ext cx="5486400" cy="502920"/>
          </a:xfrm>
          <a:prstGeom prst="rect">
            <a:avLst/>
          </a:prstGeom>
          <a:solidFill>
            <a:srgbClr val="0D4F5C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685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 —  Records from 4 databases: 1,707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06240" y="1188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1417320"/>
            <a:ext cx="5486400" cy="457200"/>
          </a:xfrm>
          <a:prstGeom prst="rect">
            <a:avLst/>
          </a:prstGeom>
          <a:solidFill>
            <a:srgbClr val="0D4F5C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removed: 69  →  1,638 unique records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28800" y="2103120"/>
            <a:ext cx="548640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2103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 —  Title/abstract screened: 1,638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788920"/>
            <a:ext cx="2560320" cy="777240"/>
          </a:xfrm>
          <a:prstGeom prst="rect">
            <a:avLst/>
          </a:prstGeom>
          <a:solidFill>
            <a:srgbClr val="3B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8346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3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775 records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2788920"/>
            <a:ext cx="2560320" cy="777240"/>
          </a:xfrm>
          <a:prstGeom prst="rect">
            <a:avLst/>
          </a:prstGeom>
          <a:solidFill>
            <a:srgbClr val="3B2E10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8346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3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 records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788920"/>
            <a:ext cx="2560320" cy="777240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8346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3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 records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0" y="3657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828800" y="3886200"/>
            <a:ext cx="5486400" cy="50292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28800" y="3886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REVIEW  —  Candidates: 863  (571 + 292 uncertain)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4389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828800" y="4572000"/>
            <a:ext cx="5486400" cy="411480"/>
          </a:xfrm>
          <a:prstGeom prst="rect">
            <a:avLst/>
          </a:prstGeom>
          <a:solidFill>
            <a:srgbClr val="0D4F5C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0" y="4572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REVIEW  —  ???  (after full-text screening)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Tracker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960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(PICOC)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1024128"/>
            <a:ext cx="11887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0241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499616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45389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protocol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1517904"/>
            <a:ext cx="11887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5179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1993392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19476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strings (PRISMA-S)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2011680"/>
            <a:ext cx="11887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011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48716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24414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execution + deduplication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0" y="2505456"/>
            <a:ext cx="11887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5054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2980944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293522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Title/abstract screening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0" y="2999232"/>
            <a:ext cx="11887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9992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47472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88720" y="3429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screening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58000" y="3493008"/>
            <a:ext cx="118872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34930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3968496"/>
            <a:ext cx="347472" cy="34747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88720" y="39227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58000" y="3986784"/>
            <a:ext cx="118872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39867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462272"/>
            <a:ext cx="347472" cy="34747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462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88720" y="44165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assessment + synthesis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58000" y="4480560"/>
            <a:ext cx="118872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4480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artifacts version-controlled in Git.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1247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292 uncertain papers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4356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borderline cases — reclassify as include or exclude.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77724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1031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63040" y="20848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screening of 863 candidates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3957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PDFs and assess against full eligibility criteria.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8046720" cy="77724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0632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3044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exclusion reasons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33558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each exclusion for PRISMA flow diagram completion.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0233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63040" y="4005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data extraction form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43159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platform, consensus, governance, privacy, interoperability, metrics, artifacts.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Consortium Networks SLR — Week 7 Progress</dc:title>
  <dc:subject>PptxGenJS Presentation</dc:subject>
  <dc:creator>Tony Eneh</dc:creator>
  <cp:lastModifiedBy>Tony Eneh</cp:lastModifiedBy>
  <cp:revision>1</cp:revision>
  <dcterms:created xsi:type="dcterms:W3CDTF">2026-04-14T09:36:52Z</dcterms:created>
  <dcterms:modified xsi:type="dcterms:W3CDTF">2026-04-14T09:36:52Z</dcterms:modified>
</cp:coreProperties>
</file>