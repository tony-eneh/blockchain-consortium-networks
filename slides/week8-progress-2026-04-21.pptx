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Utilization Strategies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Institutional Consortium Networks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2020 Systematic Review — Week 8 Progress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Eneh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Networked Systems Laboratory (NSL)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Kumoh National Institute of Technology (KIT)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21,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Left Off (Week 7)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25603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70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T/A Included  (34.9%)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05156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51560"/>
            <a:ext cx="25603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70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T/A Excluded  (47.3%)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51560"/>
            <a:ext cx="25603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170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1792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T/A Uncertain  (17.8%)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8046720" cy="19202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 going into Week 8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2461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863 candidates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awaiting full-text review (571 first-pass include + 292 uncertain).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at this scale is not feasible inside the semester window — we needed an agent-driven pipeline.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open-access gap. Many institutional consortium papers are paywalled.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Timeline (Weeks 1–8)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065276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-9144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-18288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RQs + PICOC scope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91740" y="1065276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protocol + search strings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11980" y="1065276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deduplication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32220" y="1065276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Title/abstract screening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06740" y="973836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full-text screening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606040"/>
            <a:ext cx="8046720" cy="21945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2697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Work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10896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the 292-record uncertain queue end-to-end (no manual backlog).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ran an agent full-text reviewer over all 863 candidates.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the PRISMA 2020 flow figure from the screening CSV.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Refreshed paper draft (abstract, Study Selection, Study Characteristics) and TODO.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Full-Text Screening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517904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517904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070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abs→pdf, OpenAlex by DOI/title, raw URL probe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20824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157984" y="1097280"/>
            <a:ext cx="1517904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57984" y="1097280"/>
            <a:ext cx="1517904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2157984" y="12070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03704" y="155448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PDF/HTML download (no on-disk cache)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30168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767328" y="1097280"/>
            <a:ext cx="1517904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67328" y="1097280"/>
            <a:ext cx="1517904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3767328" y="12070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13048" y="155448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per-page text + bs4 HTML fallback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39512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376672" y="1097280"/>
            <a:ext cx="1517904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76672" y="1097280"/>
            <a:ext cx="1517904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5376672" y="12070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22392" y="155448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+ implementation + evidence keyword baskets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48856" y="16002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986016" y="1097280"/>
            <a:ext cx="1517904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86016" y="1097280"/>
            <a:ext cx="1517904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6986016" y="12070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31736" y="155448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Conservative: needs_human_check → exclude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2743200"/>
            <a:ext cx="3931920" cy="21031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scripts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310896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review_firstpass_fulltexts.py  (NEW)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review_accessible_fulltexts.py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discover_ambiguous_fulltexts.py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finalize_uncertain_decisions.py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generate_prisma_flow.py  (NEW)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2743200"/>
            <a:ext cx="3931920" cy="21031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310896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re-running reproduces 279/584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Checkpoint+resume every 25 records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Per-page try/except on PDF extraction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truth: fulltext_screening.csv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in data/reports/*.md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Full-Text Screening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560320" cy="137160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70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Reviewed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05156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051560"/>
            <a:ext cx="25603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70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8328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 (32.3%)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05156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051560"/>
            <a:ext cx="25603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170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1792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 (67.7%)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3931920" cy="20574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279 includes came from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1089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First-pass agent review:  136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Triage promotions:        123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Accessible OA agent:        20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                   279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3931920" cy="20574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584 exclusions came from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First-pass agent review:  435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/ insufficient OA:      68 + …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Triage likely-exclude:     48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Borderline (conservative): 33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                   584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excluded 584 candidates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full-text access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0" y="1106424"/>
            <a:ext cx="4206240" cy="2194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909560" y="10515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281  (48.1%)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807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open-access full text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435608"/>
            <a:ext cx="3143453" cy="2194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6846773" y="138074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 (36.0%)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099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Second-pass likely exclude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1764792"/>
            <a:ext cx="718504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421824" y="17099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 (8.2%)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0391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borderline (conservative)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2093976"/>
            <a:ext cx="479002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182322" y="20391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 (5.5%)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36829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reproducible evidence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2423160"/>
            <a:ext cx="104782" cy="21945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8" name="Text 16"/>
          <p:cNvSpPr/>
          <p:nvPr/>
        </p:nvSpPr>
        <p:spPr>
          <a:xfrm>
            <a:off x="3808102" y="236829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(1.2%)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6974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/ commentary only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2752344"/>
            <a:ext cx="45720" cy="21945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2697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(0.3%)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0266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full-text case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3081528"/>
            <a:ext cx="45720" cy="21945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30266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(0.3%)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3558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institutional setting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3410712"/>
            <a:ext cx="45720" cy="21945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3749040" y="33558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(0.2%)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6850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implementation detail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0" y="3739896"/>
            <a:ext cx="45720" cy="21945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0" name="Text 28"/>
          <p:cNvSpPr/>
          <p:nvPr/>
        </p:nvSpPr>
        <p:spPr>
          <a:xfrm>
            <a:off x="3749040" y="36850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(0.2%)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52160" y="1051560"/>
            <a:ext cx="2743200" cy="3657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8932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8932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Open-access gap dominates: 491 of 584 (84%) excluded purely for lack of full text.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8932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follow-up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89320" y="27432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paywalled full-texts via institutional access; re-run agent.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32 borderline + 48 second-pass excludes.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PRISMA 2020 Flow — Updated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0" y="640080"/>
            <a:ext cx="5486400" cy="457200"/>
          </a:xfrm>
          <a:prstGeom prst="rect">
            <a:avLst/>
          </a:prstGeom>
          <a:solidFill>
            <a:srgbClr val="0D4F5C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 —  4 sources: 1,707 records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06240" y="1097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1307592"/>
            <a:ext cx="5486400" cy="365760"/>
          </a:xfrm>
          <a:prstGeom prst="rect">
            <a:avLst/>
          </a:prstGeom>
          <a:solidFill>
            <a:srgbClr val="0D4F5C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3075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removed: 69  →  1,638 unique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0" y="16733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1874520"/>
            <a:ext cx="548640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874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TITLE/ABSTRACT  —  1,638 screened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423160"/>
            <a:ext cx="2560320" cy="640080"/>
          </a:xfrm>
          <a:prstGeom prst="rect">
            <a:avLst/>
          </a:prstGeom>
          <a:solidFill>
            <a:srgbClr val="3B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423160"/>
            <a:ext cx="2560320" cy="640080"/>
          </a:xfrm>
          <a:prstGeom prst="rect">
            <a:avLst/>
          </a:prstGeom>
          <a:solidFill>
            <a:srgbClr val="3B2E10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→ resolved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423160"/>
            <a:ext cx="2560320" cy="640080"/>
          </a:xfrm>
          <a:prstGeom prst="rect">
            <a:avLst/>
          </a:prstGeom>
          <a:solidFill>
            <a:srgbClr val="0D3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468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0" y="3108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28800" y="3310128"/>
            <a:ext cx="548640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33101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CANDIDATES  —  863  (571 + 292)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3886200"/>
            <a:ext cx="3200400" cy="777240"/>
          </a:xfrm>
          <a:prstGeom prst="rect">
            <a:avLst/>
          </a:prstGeom>
          <a:solidFill>
            <a:srgbClr val="3B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1363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3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584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 gap 491 · second-pass 48 · borderline 34 · protocol 11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3886200"/>
            <a:ext cx="3200400" cy="777240"/>
          </a:xfrm>
          <a:prstGeom prst="rect">
            <a:avLst/>
          </a:prstGeom>
          <a:solidFill>
            <a:srgbClr val="0D332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91363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REVIEW</a:t>
            </a:r>
            <a:endParaRPr lang="en-US" sz="13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TikZ figure: paper/figures/prisma_flow.tex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Tracker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96696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96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9601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(PICOC)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005840"/>
            <a:ext cx="11887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005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13807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protocol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1426464"/>
            <a:ext cx="11887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4264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1837944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" y="18013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strings (PRISMA-S)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1847088"/>
            <a:ext cx="11887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8470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258568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" y="22219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execution + deduplication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0" y="2267712"/>
            <a:ext cx="11887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2677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2679192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" y="26426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Title/abstract screening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0" y="2688336"/>
            <a:ext cx="11887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26883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099816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099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" y="30632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screening (agent)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0" y="3108960"/>
            <a:ext cx="118872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3108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3520440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34838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(over 279 includes)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58000" y="3529584"/>
            <a:ext cx="118872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35295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3941064"/>
            <a:ext cx="329184" cy="3291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941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3000" y="39044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assessment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58000" y="3950208"/>
            <a:ext cx="118872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39502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" y="4361688"/>
            <a:ext cx="329184" cy="3291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361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43000" y="43251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+ taxonomy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58000" y="4370832"/>
            <a:ext cx="1188720" cy="29260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0" y="43708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main is 11 commits ahead of origin/main (4 added this week).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(Week 9)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11247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over 279 includes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4356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data_extraction.csv: network type, consensus, governance, deployment scale, evidence type.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046720" cy="77724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1031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63040" y="20848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assessment rubric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23957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CASP-style scoring; flag low-quality items for sensitivity analysis.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8046720" cy="77724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0632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30449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paywalled full-texts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3355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491 paywalled candidates via institutional access; re-run agent reviewer.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0D4F5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0233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63040" y="4005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Snowball + synthesis kickoff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43159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Backward/forward sampling on the 279; begin taxonomy synthesis (Discussion scaffolding).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Consortium Networks SLR — Week 8 Progress</dc:title>
  <dc:subject>PptxGenJS Presentation</dc:subject>
  <dc:creator>Tony Eneh</dc:creator>
  <cp:lastModifiedBy>Tony Eneh</cp:lastModifiedBy>
  <cp:revision>1</cp:revision>
  <dcterms:created xsi:type="dcterms:W3CDTF">2026-04-21T09:47:47Z</dcterms:created>
  <dcterms:modified xsi:type="dcterms:W3CDTF">2026-04-21T09:47:47Z</dcterms:modified>
</cp:coreProperties>
</file>