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Excluded</c:v>
                </c:pt>
              </c:strCache>
            </c:strRef>
          </c:tx>
          <c:cat>
            <c:strRef>
              <c:f>Sheet1!$A$2:$A$10</c:f>
              <c:strCache>
                <c:ptCount val="9"/>
                <c:pt idx="0">
                  <c:v>Insufficient full-text access</c:v>
                </c:pt>
                <c:pt idx="1">
                  <c:v>No open-access full text</c:v>
                </c:pt>
                <c:pt idx="2">
                  <c:v>Second-pass likely exclude</c:v>
                </c:pt>
                <c:pt idx="3">
                  <c:v>Agent borderline (conservative)</c:v>
                </c:pt>
                <c:pt idx="4">
                  <c:v>No reproducible evidence</c:v>
                </c:pt>
                <c:pt idx="5">
                  <c:v>Policy / commentary only</c:v>
                </c:pt>
                <c:pt idx="6">
                  <c:v>Borderline full-text case</c:v>
                </c:pt>
                <c:pt idx="7">
                  <c:v>Not institutional setting</c:v>
                </c:pt>
                <c:pt idx="8">
                  <c:v>No implementation detail</c:v>
                </c:pt>
              </c:strCache>
            </c:strRef>
          </c:cat>
          <c:val>
            <c:numRef>
              <c:f>Sheet1!$B$2:$B$10</c:f>
              <c:numCache>
                <c:formatCode>General</c:formatCode>
                <c:ptCount val="9"/>
                <c:pt idx="0">
                  <c:v>281</c:v>
                </c:pt>
                <c:pt idx="1">
                  <c:v>210</c:v>
                </c:pt>
                <c:pt idx="2">
                  <c:v>48</c:v>
                </c:pt>
                <c:pt idx="3">
                  <c:v>32</c:v>
                </c:pt>
                <c:pt idx="4">
                  <c:v>7</c:v>
                </c:pt>
                <c:pt idx="5">
                  <c:v>2</c:v>
                </c:pt>
                <c:pt idx="6">
                  <c:v>2</c:v>
                </c:pt>
                <c:pt idx="7">
                  <c:v>1</c:v>
                </c:pt>
                <c:pt idx="8">
                  <c:v>1</c:v>
                </c:pt>
              </c:numCache>
            </c:numRef>
          </c:val>
        </c:ser>
        <c:dLbls>
          <c:txPr>
            <a:bodyPr/>
            <a:lstStyle/>
            <a:p>
              <a:pPr>
                <a:defRPr sz="1100"/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b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3A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011680"/>
            <a:ext cx="109728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400" b="1">
                <a:solidFill>
                  <a:srgbClr val="FFFFFF"/>
                </a:solidFill>
              </a:defRPr>
            </a:pPr>
            <a:r>
              <a:t>Week 8 Progress Report</a:t>
            </a:r>
          </a:p>
          <a:p>
            <a:pPr>
              <a:defRPr sz="2400">
                <a:solidFill>
                  <a:srgbClr val="CFDDEE"/>
                </a:solidFill>
              </a:defRPr>
            </a:pPr>
            <a:r>
              <a:t>Blockchain in Consortium Networks - Systematic Literature Review</a:t>
            </a:r>
          </a:p>
          <a:p>
            <a:pPr>
              <a:defRPr sz="1800">
                <a:solidFill>
                  <a:srgbClr val="CFDDEE"/>
                </a:solidFill>
              </a:defRPr>
            </a:pPr>
            <a:r>
              <a:t>Tony Eneh - Apr 21,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1F3A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9144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Week 8 Goals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868680"/>
            <a:ext cx="11247120" cy="5760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2000">
                <a:solidFill>
                  <a:srgbClr val="1F3A68"/>
                </a:solidFill>
              </a:defRPr>
            </a:pPr>
            <a:r>
              <a:t>Close the title/abstract uncertain queue end-to-end (no manual backlog).</a:t>
            </a:r>
          </a:p>
          <a:p>
            <a:pPr>
              <a:spcAft>
                <a:spcPts val="600"/>
              </a:spcAft>
              <a:defRPr sz="2000">
                <a:solidFill>
                  <a:srgbClr val="1F3A68"/>
                </a:solidFill>
              </a:defRPr>
            </a:pPr>
            <a:r>
              <a:t>    Second-pass triage -&gt; OA discovery -&gt; agent review -&gt; finalisation.</a:t>
            </a:r>
          </a:p>
          <a:p>
            <a:pPr>
              <a:spcAft>
                <a:spcPts val="600"/>
              </a:spcAft>
              <a:defRPr sz="2000">
                <a:solidFill>
                  <a:srgbClr val="1F3A68"/>
                </a:solidFill>
              </a:defRPr>
            </a:pPr>
            <a:r>
              <a:t>Run agent full-text review on the 571 first-pass INCLUDE records.</a:t>
            </a:r>
          </a:p>
          <a:p>
            <a:pPr>
              <a:spcAft>
                <a:spcPts val="600"/>
              </a:spcAft>
              <a:defRPr sz="2000">
                <a:solidFill>
                  <a:srgbClr val="1F3A68"/>
                </a:solidFill>
              </a:defRPr>
            </a:pPr>
            <a:r>
              <a:t>Generate the PRISMA 2020 flow diagram from data, not by hand.</a:t>
            </a:r>
          </a:p>
          <a:p>
            <a:pPr>
              <a:spcAft>
                <a:spcPts val="600"/>
              </a:spcAft>
              <a:defRPr sz="2000">
                <a:solidFill>
                  <a:srgbClr val="1F3A68"/>
                </a:solidFill>
              </a:defRPr>
            </a:pPr>
            <a:r>
              <a:t>Refresh paper draft and TODO with Week-8 numbers.</a:t>
            </a:r>
          </a:p>
          <a:p>
            <a:pPr>
              <a:spcAft>
                <a:spcPts val="600"/>
              </a:spcAft>
              <a:defRPr sz="2000">
                <a:solidFill>
                  <a:srgbClr val="1F3A68"/>
                </a:solidFill>
              </a:defRPr>
            </a:pPr>
            <a:r>
              <a:t>Lock the candidate pool so Week 9 can start data extraction.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1F3A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9144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PRISMA 2020 - Final Screening Funnel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097280"/>
            <a:ext cx="2103120" cy="1371600"/>
          </a:xfrm>
          <a:prstGeom prst="roundRect">
            <a:avLst/>
          </a:prstGeom>
          <a:solidFill>
            <a:srgbClr val="4C7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/>
          <a:lstStyle/>
          <a:p>
            <a:pPr algn="ctr">
              <a:defRPr sz="3600" b="1">
                <a:solidFill>
                  <a:srgbClr val="FFFFFF"/>
                </a:solidFill>
              </a:defRPr>
            </a:pPr>
            <a:r>
              <a:t>1,707</a:t>
            </a:r>
          </a:p>
          <a:p>
            <a:pPr algn="ctr">
              <a:defRPr sz="1300">
                <a:solidFill>
                  <a:srgbClr val="FFFFFF"/>
                </a:solidFill>
              </a:defRPr>
            </a:pPr>
            <a:r>
              <a:t>Records identified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697480" y="1097280"/>
            <a:ext cx="2103120" cy="1371600"/>
          </a:xfrm>
          <a:prstGeom prst="roundRect">
            <a:avLst/>
          </a:prstGeom>
          <a:solidFill>
            <a:srgbClr val="4C7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/>
          <a:lstStyle/>
          <a:p>
            <a:pPr algn="ctr">
              <a:defRPr sz="3600" b="1">
                <a:solidFill>
                  <a:srgbClr val="FFFFFF"/>
                </a:solidFill>
              </a:defRPr>
            </a:pPr>
            <a:r>
              <a:t>1,638</a:t>
            </a:r>
          </a:p>
          <a:p>
            <a:pPr algn="ctr">
              <a:defRPr sz="1300">
                <a:solidFill>
                  <a:srgbClr val="FFFFFF"/>
                </a:solidFill>
              </a:defRPr>
            </a:pPr>
            <a:r>
              <a:t>After dedup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937760" y="1097280"/>
            <a:ext cx="2103120" cy="1371600"/>
          </a:xfrm>
          <a:prstGeom prst="roundRect">
            <a:avLst/>
          </a:prstGeom>
          <a:solidFill>
            <a:srgbClr val="1F3A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/>
          <a:lstStyle/>
          <a:p>
            <a:pPr algn="ctr">
              <a:defRPr sz="3600" b="1">
                <a:solidFill>
                  <a:srgbClr val="FFFFFF"/>
                </a:solidFill>
              </a:defRPr>
            </a:pPr>
            <a:r>
              <a:t>863</a:t>
            </a:r>
          </a:p>
          <a:p>
            <a:pPr algn="ctr">
              <a:defRPr sz="1300">
                <a:solidFill>
                  <a:srgbClr val="FFFFFF"/>
                </a:solidFill>
              </a:defRPr>
            </a:pPr>
            <a:r>
              <a:t>Title/abstract candidates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178040" y="1097280"/>
            <a:ext cx="2103120" cy="1371600"/>
          </a:xfrm>
          <a:prstGeom prst="round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/>
          <a:lstStyle/>
          <a:p>
            <a:pPr algn="ctr">
              <a:defRPr sz="3600" b="1">
                <a:solidFill>
                  <a:srgbClr val="FFFFFF"/>
                </a:solidFill>
              </a:defRPr>
            </a:pPr>
            <a:r>
              <a:t>279</a:t>
            </a:r>
          </a:p>
          <a:p>
            <a:pPr algn="ctr">
              <a:defRPr sz="1300">
                <a:solidFill>
                  <a:srgbClr val="FFFFFF"/>
                </a:solidFill>
              </a:defRPr>
            </a:pPr>
            <a:r>
              <a:t>Final included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418320" y="1097280"/>
            <a:ext cx="2103120" cy="1371600"/>
          </a:xfrm>
          <a:prstGeom prst="roundRect">
            <a:avLst/>
          </a:prstGeom>
          <a:solidFill>
            <a:srgbClr val="C6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/>
          <a:lstStyle/>
          <a:p>
            <a:pPr algn="ctr">
              <a:defRPr sz="3600" b="1">
                <a:solidFill>
                  <a:srgbClr val="FFFFFF"/>
                </a:solidFill>
              </a:defRPr>
            </a:pPr>
            <a:r>
              <a:t>584</a:t>
            </a:r>
          </a:p>
          <a:p>
            <a:pPr algn="ctr">
              <a:defRPr sz="1300">
                <a:solidFill>
                  <a:srgbClr val="FFFFFF"/>
                </a:solidFill>
              </a:defRPr>
            </a:pPr>
            <a:r>
              <a:t>Final excluded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743200"/>
            <a:ext cx="112471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>
                <a:solidFill>
                  <a:srgbClr val="555555"/>
                </a:solidFill>
              </a:defRPr>
            </a:pPr>
            <a:r>
              <a:t>863 candidates = 571 first-pass INCLUDE + 292 UNCERTAIN (resolved by agent pipeline this week).</a:t>
            </a:r>
          </a:p>
          <a:p>
            <a:pPr>
              <a:spcAft>
                <a:spcPts val="600"/>
              </a:spcAft>
              <a:defRPr sz="1500">
                <a:solidFill>
                  <a:srgbClr val="555555"/>
                </a:solidFill>
              </a:defRPr>
            </a:pPr>
            <a:r>
              <a:t>Agent full-text review of all 863: include = 279, exclude = 584.</a:t>
            </a:r>
          </a:p>
          <a:p>
            <a:pPr>
              <a:spcAft>
                <a:spcPts val="600"/>
              </a:spcAft>
              <a:defRPr sz="1500">
                <a:solidFill>
                  <a:srgbClr val="555555"/>
                </a:solidFill>
              </a:defRPr>
            </a:pPr>
            <a:r>
              <a:t>Pipeline: OA discovery (arXiv -&gt; OpenAlex -&gt; raw URL) -&gt; in-memory PDF/HTML extraction (pypdf + bs4) -&gt; heuristic scoring (institutional + implementation + evidence terms) -&gt; conservative finalisation (needs_human_check -&gt; exclude).</a:t>
            </a:r>
          </a:p>
          <a:p>
            <a:pPr>
              <a:spcAft>
                <a:spcPts val="600"/>
              </a:spcAft>
              <a:defRPr sz="1500">
                <a:solidFill>
                  <a:srgbClr val="555555"/>
                </a:solidFill>
              </a:defRPr>
            </a:pPr>
            <a:r>
              <a:t>Single source of truth: data/processed/fulltext_screening.csv.</a:t>
            </a:r>
          </a:p>
          <a:p>
            <a:pPr>
              <a:spcAft>
                <a:spcPts val="600"/>
              </a:spcAft>
              <a:defRPr sz="1500">
                <a:solidFill>
                  <a:srgbClr val="555555"/>
                </a:solidFill>
              </a:defRPr>
            </a:pPr>
            <a:r>
              <a:t>Auto-generated TikZ flow figure: paper/figures/prisma_flow.tex.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1F3A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9144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Pipeline Built This Week (all reproducible)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868680"/>
            <a:ext cx="11247120" cy="5760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2000">
                <a:solidFill>
                  <a:srgbClr val="1F3A68"/>
                </a:solidFill>
              </a:defRPr>
            </a:pPr>
            <a:r>
              <a:t>scripts/triage_uncertain_records.py - second-pass NLP triage of 292 uncertain rows.</a:t>
            </a:r>
          </a:p>
          <a:p>
            <a:pPr>
              <a:spcAft>
                <a:spcPts val="600"/>
              </a:spcAft>
              <a:defRPr sz="2000">
                <a:solidFill>
                  <a:srgbClr val="1F3A68"/>
                </a:solidFill>
              </a:defRPr>
            </a:pPr>
            <a:r>
              <a:t>scripts/split_uncertain_triage.py - partitions into likely_include / likely_exclude / needs_manual.</a:t>
            </a:r>
          </a:p>
          <a:p>
            <a:pPr>
              <a:spcAft>
                <a:spcPts val="600"/>
              </a:spcAft>
              <a:defRPr sz="2000">
                <a:solidFill>
                  <a:srgbClr val="1F3A68"/>
                </a:solidFill>
              </a:defRPr>
            </a:pPr>
            <a:r>
              <a:t>scripts/discover_ambiguous_fulltexts.py - arXiv + OpenAlex OA discovery (15 PDFs, 38 links, 68 paywalled).</a:t>
            </a:r>
          </a:p>
          <a:p>
            <a:pPr>
              <a:spcAft>
                <a:spcPts val="600"/>
              </a:spcAft>
              <a:defRPr sz="2000">
                <a:solidFill>
                  <a:srgbClr val="1F3A68"/>
                </a:solidFill>
              </a:defRPr>
            </a:pPr>
            <a:r>
              <a:t>scripts/prioritize_ambiguous_fulltexts.py - ranks the 121 needs-manual records by access bucket.</a:t>
            </a:r>
          </a:p>
          <a:p>
            <a:pPr>
              <a:spcAft>
                <a:spcPts val="600"/>
              </a:spcAft>
              <a:defRPr sz="2000">
                <a:solidFill>
                  <a:srgbClr val="1F3A68"/>
                </a:solidFill>
              </a:defRPr>
            </a:pPr>
            <a:r>
              <a:t>scripts/review_accessible_fulltexts.py - agent review of 53 accessible papers (20/1/32).</a:t>
            </a:r>
          </a:p>
          <a:p>
            <a:pPr>
              <a:spcAft>
                <a:spcPts val="600"/>
              </a:spcAft>
              <a:defRPr sz="2000">
                <a:solidFill>
                  <a:srgbClr val="1F3A68"/>
                </a:solidFill>
              </a:defRPr>
            </a:pPr>
            <a:r>
              <a:t>scripts/finalize_uncertain_decisions.py - rule-based promotion: 143 include / 149 exclude.</a:t>
            </a:r>
          </a:p>
          <a:p>
            <a:pPr>
              <a:spcAft>
                <a:spcPts val="600"/>
              </a:spcAft>
              <a:defRPr sz="2000">
                <a:solidFill>
                  <a:srgbClr val="1F3A68"/>
                </a:solidFill>
              </a:defRPr>
            </a:pPr>
            <a:r>
              <a:t>scripts/review_firstpass_fulltexts.py - NEW. Agent review of 571 first-pass includes (136/435), with checkpoint+resume.</a:t>
            </a:r>
          </a:p>
          <a:p>
            <a:pPr>
              <a:spcAft>
                <a:spcPts val="600"/>
              </a:spcAft>
              <a:defRPr sz="2000">
                <a:solidFill>
                  <a:srgbClr val="1F3A68"/>
                </a:solidFill>
              </a:defRPr>
            </a:pPr>
            <a:r>
              <a:t>scripts/generate_prisma_flow.py - NEW. Emits paper/figures/prisma_flow.tex from CSV counts.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1F3A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9144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excluded 584 candidates</a:t>
            </a:r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457200" y="914400"/>
          <a:ext cx="7772400" cy="54864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8412480" y="914400"/>
            <a:ext cx="36576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400" b="1">
                <a:solidFill>
                  <a:srgbClr val="1F3A68"/>
                </a:solidFill>
              </a:defRPr>
            </a:pPr>
            <a:r>
              <a:t>Top driver</a:t>
            </a:r>
          </a:p>
          <a:p>
            <a:pPr>
              <a:spcAft>
                <a:spcPts val="400"/>
              </a:spcAft>
              <a:defRPr sz="1200" b="0">
                <a:solidFill>
                  <a:srgbClr val="555555"/>
                </a:solidFill>
              </a:defRPr>
            </a:pPr>
            <a:r>
              <a:t>Open-access gap dominates (491 of 584; 84%).</a:t>
            </a:r>
          </a:p>
          <a:p>
            <a:pPr>
              <a:spcAft>
                <a:spcPts val="400"/>
              </a:spcAft>
              <a:defRPr sz="1400" b="1">
                <a:solidFill>
                  <a:srgbClr val="1F3A68"/>
                </a:solidFill>
              </a:defRPr>
            </a:pPr>
            <a:r>
              <a:t>Author work this week</a:t>
            </a:r>
          </a:p>
          <a:p>
            <a:pPr>
              <a:spcAft>
                <a:spcPts val="400"/>
              </a:spcAft>
              <a:defRPr sz="1200" b="0">
                <a:solidFill>
                  <a:srgbClr val="555555"/>
                </a:solidFill>
              </a:defRPr>
            </a:pPr>
            <a:r>
              <a:t>Procure full-text for the 491 paywalled rows via institutional access; re-run agent.</a:t>
            </a:r>
          </a:p>
          <a:p>
            <a:pPr>
              <a:spcAft>
                <a:spcPts val="400"/>
              </a:spcAft>
              <a:defRPr sz="1200" b="0">
                <a:solidFill>
                  <a:srgbClr val="555555"/>
                </a:solidFill>
              </a:defRPr>
            </a:pPr>
            <a:r>
              <a:t>Spot-check the 32 borderline agent exclusions and the 48 second-pass excludes.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1F3A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9144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Paper &amp; Repo Updates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868680"/>
            <a:ext cx="11247120" cy="5760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2000">
                <a:solidFill>
                  <a:srgbClr val="1F3A68"/>
                </a:solidFill>
              </a:defRPr>
            </a:pPr>
            <a:r>
              <a:t>paper/main.tex: tikz packages added; abstract + Study Selection + Study Characteristics rewritten with Week-8 numbers.</a:t>
            </a:r>
          </a:p>
          <a:p>
            <a:pPr>
              <a:spcAft>
                <a:spcPts val="600"/>
              </a:spcAft>
              <a:defRPr sz="2000">
                <a:solidFill>
                  <a:srgbClr val="1F3A68"/>
                </a:solidFill>
              </a:defRPr>
            </a:pPr>
            <a:r>
              <a:t>paper/figures/prisma_flow.tex: auto-generated TikZ figure (1707 -&gt; 1638 -&gt; 863 -&gt; 279 / 584).</a:t>
            </a:r>
          </a:p>
          <a:p>
            <a:pPr>
              <a:spcAft>
                <a:spcPts val="600"/>
              </a:spcAft>
              <a:defRPr sz="2000">
                <a:solidFill>
                  <a:srgbClr val="1F3A68"/>
                </a:solidFill>
              </a:defRPr>
            </a:pPr>
            <a:r>
              <a:t>TODO.md: 714-record stale pool replaced; Immediate Next Actions repointed at Step 6 (extraction) and Step 7 (quality).</a:t>
            </a:r>
          </a:p>
          <a:p>
            <a:pPr>
              <a:spcAft>
                <a:spcPts val="600"/>
              </a:spcAft>
              <a:defRPr sz="2000">
                <a:solidFill>
                  <a:srgbClr val="1F3A68"/>
                </a:solidFill>
              </a:defRPr>
            </a:pPr>
            <a:r>
              <a:t>Atomic commits this week (3 + previous 7 from week 7 batch):</a:t>
            </a:r>
          </a:p>
          <a:p>
            <a:pPr>
              <a:spcAft>
                <a:spcPts val="600"/>
              </a:spcAft>
              <a:defRPr sz="2000">
                <a:solidFill>
                  <a:srgbClr val="1F3A68"/>
                </a:solidFill>
              </a:defRPr>
            </a:pPr>
            <a:r>
              <a:t>    feat(screen): agent full-text review of 571 first-pass title/abstract includes</a:t>
            </a:r>
          </a:p>
          <a:p>
            <a:pPr>
              <a:spcAft>
                <a:spcPts val="600"/>
              </a:spcAft>
              <a:defRPr sz="2000">
                <a:solidFill>
                  <a:srgbClr val="1F3A68"/>
                </a:solidFill>
              </a:defRPr>
            </a:pPr>
            <a:r>
              <a:t>    feat(paper): auto-generated PRISMA 2020 flow diagram (TikZ)</a:t>
            </a:r>
          </a:p>
          <a:p>
            <a:pPr>
              <a:spcAft>
                <a:spcPts val="600"/>
              </a:spcAft>
              <a:defRPr sz="2000">
                <a:solidFill>
                  <a:srgbClr val="1F3A68"/>
                </a:solidFill>
              </a:defRPr>
            </a:pPr>
            <a:r>
              <a:t>    docs(slr): refresh TODO and paper with Week-8 final screening metrics</a:t>
            </a:r>
          </a:p>
          <a:p>
            <a:pPr>
              <a:spcAft>
                <a:spcPts val="600"/>
              </a:spcAft>
              <a:defRPr sz="2000">
                <a:solidFill>
                  <a:srgbClr val="1F3A68"/>
                </a:solidFill>
              </a:defRPr>
            </a:pPr>
            <a:r>
              <a:t>All Python scripts deterministic; rerunning the pipeline reproduces the exact 279/584 split.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1F3A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9144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Risks &amp; Limitations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868680"/>
            <a:ext cx="11247120" cy="5760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2000">
                <a:solidFill>
                  <a:srgbClr val="1F3A68"/>
                </a:solidFill>
              </a:defRPr>
            </a:pPr>
            <a:r>
              <a:t>Agent-only screening is the largest risk vector.</a:t>
            </a:r>
          </a:p>
          <a:p>
            <a:pPr>
              <a:spcAft>
                <a:spcPts val="600"/>
              </a:spcAft>
              <a:defRPr sz="2000">
                <a:solidFill>
                  <a:srgbClr val="1F3A68"/>
                </a:solidFill>
              </a:defRPr>
            </a:pPr>
            <a:r>
              <a:t>    491 of 584 exclusions are driven by lack of OA full text - could hide eligible studies behind paywalls.</a:t>
            </a:r>
          </a:p>
          <a:p>
            <a:pPr>
              <a:spcAft>
                <a:spcPts val="600"/>
              </a:spcAft>
              <a:defRPr sz="2000">
                <a:solidFill>
                  <a:srgbClr val="1F3A68"/>
                </a:solidFill>
              </a:defRPr>
            </a:pPr>
            <a:r>
              <a:t>    32 borderline cases were conservatively excluded; sampling needed.</a:t>
            </a:r>
          </a:p>
          <a:p>
            <a:pPr>
              <a:spcAft>
                <a:spcPts val="600"/>
              </a:spcAft>
              <a:defRPr sz="2000">
                <a:solidFill>
                  <a:srgbClr val="1F3A68"/>
                </a:solidFill>
              </a:defRPr>
            </a:pPr>
            <a:r>
              <a:t>Heuristic scoring uses keyword baskets, not full LLM reasoning.</a:t>
            </a:r>
          </a:p>
          <a:p>
            <a:pPr>
              <a:spcAft>
                <a:spcPts val="600"/>
              </a:spcAft>
              <a:defRPr sz="2000">
                <a:solidFill>
                  <a:srgbClr val="1F3A68"/>
                </a:solidFill>
              </a:defRPr>
            </a:pPr>
            <a:r>
              <a:t>    Acceptable for first-pass agent screening; author confirmation still required before final inclusion in synthesis.</a:t>
            </a:r>
          </a:p>
          <a:p>
            <a:pPr>
              <a:spcAft>
                <a:spcPts val="600"/>
              </a:spcAft>
              <a:defRPr sz="2000">
                <a:solidFill>
                  <a:srgbClr val="1F3A68"/>
                </a:solidFill>
              </a:defRPr>
            </a:pPr>
            <a:r>
              <a:t>Snowball sampling on the 279 includes is not yet started.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1F3A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9144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Week 9 Plan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868680"/>
            <a:ext cx="11247120" cy="5760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2000">
                <a:solidFill>
                  <a:srgbClr val="1F3A68"/>
                </a:solidFill>
              </a:defRPr>
            </a:pPr>
            <a:r>
              <a:t>Step 6 - Data extraction on the 279 included studies.</a:t>
            </a:r>
          </a:p>
          <a:p>
            <a:pPr>
              <a:spcAft>
                <a:spcPts val="600"/>
              </a:spcAft>
              <a:defRPr sz="2000">
                <a:solidFill>
                  <a:srgbClr val="1F3A68"/>
                </a:solidFill>
              </a:defRPr>
            </a:pPr>
            <a:r>
              <a:t>    Populate data/processed/data_extraction.csv (network type, consensus, governance, deployment scale, evidence type).</a:t>
            </a:r>
          </a:p>
          <a:p>
            <a:pPr>
              <a:spcAft>
                <a:spcPts val="600"/>
              </a:spcAft>
              <a:defRPr sz="2000">
                <a:solidFill>
                  <a:srgbClr val="1F3A68"/>
                </a:solidFill>
              </a:defRPr>
            </a:pPr>
            <a:r>
              <a:t>Step 7 - Quality assessment.</a:t>
            </a:r>
          </a:p>
          <a:p>
            <a:pPr>
              <a:spcAft>
                <a:spcPts val="600"/>
              </a:spcAft>
              <a:defRPr sz="2000">
                <a:solidFill>
                  <a:srgbClr val="1F3A68"/>
                </a:solidFill>
              </a:defRPr>
            </a:pPr>
            <a:r>
              <a:t>    Apply CASP-style rubric; flag low-quality items for sensitivity analysis.</a:t>
            </a:r>
          </a:p>
          <a:p>
            <a:pPr>
              <a:spcAft>
                <a:spcPts val="600"/>
              </a:spcAft>
              <a:defRPr sz="2000">
                <a:solidFill>
                  <a:srgbClr val="1F3A68"/>
                </a:solidFill>
              </a:defRPr>
            </a:pPr>
            <a:r>
              <a:t>Snowball-sample references of the 279 includes.</a:t>
            </a:r>
          </a:p>
          <a:p>
            <a:pPr>
              <a:spcAft>
                <a:spcPts val="600"/>
              </a:spcAft>
              <a:defRPr sz="2000">
                <a:solidFill>
                  <a:srgbClr val="1F3A68"/>
                </a:solidFill>
              </a:defRPr>
            </a:pPr>
            <a:r>
              <a:t>Procure paywalled full-texts via institutional access; re-run agent reviewer to recover false negatives.</a:t>
            </a:r>
          </a:p>
          <a:p>
            <a:pPr>
              <a:spcAft>
                <a:spcPts val="600"/>
              </a:spcAft>
              <a:defRPr sz="2000">
                <a:solidFill>
                  <a:srgbClr val="1F3A68"/>
                </a:solidFill>
              </a:defRPr>
            </a:pPr>
            <a:r>
              <a:t>Begin taxonomy synthesis draft (Discussion section scaffolding).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1F3A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9144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Asks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868680"/>
            <a:ext cx="11247120" cy="5760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2000">
                <a:solidFill>
                  <a:srgbClr val="1F3A68"/>
                </a:solidFill>
              </a:defRPr>
            </a:pPr>
            <a:r>
              <a:t>Confirm the conservative finalisation policy (needs_human_check -&gt; exclude) before lock.</a:t>
            </a:r>
          </a:p>
          <a:p>
            <a:pPr>
              <a:spcAft>
                <a:spcPts val="600"/>
              </a:spcAft>
              <a:defRPr sz="2000">
                <a:solidFill>
                  <a:srgbClr val="1F3A68"/>
                </a:solidFill>
              </a:defRPr>
            </a:pPr>
            <a:r>
              <a:t>Approve the move to Step 6 (data extraction) over the 279-record subset.</a:t>
            </a:r>
          </a:p>
          <a:p>
            <a:pPr>
              <a:spcAft>
                <a:spcPts val="600"/>
              </a:spcAft>
              <a:defRPr sz="2000">
                <a:solidFill>
                  <a:srgbClr val="1F3A68"/>
                </a:solidFill>
              </a:defRPr>
            </a:pPr>
            <a:r>
              <a:t>Recommend any priority venues / authors for snowball sampling.</a:t>
            </a:r>
          </a:p>
          <a:p>
            <a:pPr>
              <a:spcAft>
                <a:spcPts val="600"/>
              </a:spcAft>
              <a:defRPr sz="2000">
                <a:solidFill>
                  <a:srgbClr val="1F3A68"/>
                </a:solidFill>
              </a:defRPr>
            </a:pPr>
            <a:r>
              <a:t>Confirm CASP-style quality rubric is acceptable, or suggest an alternative.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